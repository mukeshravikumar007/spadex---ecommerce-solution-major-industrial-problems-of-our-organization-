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30916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0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.png"/><Relationship Id="rId9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0"/>
            <a:ext cx="2743200" cy="5143500"/>
          </a:xfrm>
          <a:prstGeom prst="rect">
            <a:avLst/>
          </a:prstGeom>
          <a:solidFill>
            <a:srgbClr val="0D1F35"/>
          </a:solidFill>
          <a:ln/>
        </p:spPr>
      </p:sp>
      <p:sp>
        <p:nvSpPr>
          <p:cNvPr id="4" name="Shape 2"/>
          <p:cNvSpPr/>
          <p:nvPr/>
        </p:nvSpPr>
        <p:spPr>
          <a:xfrm>
            <a:off x="6766560" y="365760"/>
            <a:ext cx="128016" cy="128016"/>
          </a:xfrm>
          <a:prstGeom prst="ellipse">
            <a:avLst/>
          </a:prstGeom>
          <a:solidFill>
            <a:srgbClr val="42A5F5">
              <a:alpha val="5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589520" y="822960"/>
            <a:ext cx="128016" cy="128016"/>
          </a:xfrm>
          <a:prstGeom prst="ellipse">
            <a:avLst/>
          </a:prstGeom>
          <a:solidFill>
            <a:srgbClr val="42A5F5">
              <a:alpha val="5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321040" y="1463040"/>
            <a:ext cx="128016" cy="128016"/>
          </a:xfrm>
          <a:prstGeom prst="ellipse">
            <a:avLst/>
          </a:prstGeom>
          <a:solidFill>
            <a:srgbClr val="42A5F5">
              <a:alpha val="5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040880" y="2011680"/>
            <a:ext cx="128016" cy="128016"/>
          </a:xfrm>
          <a:prstGeom prst="ellipse">
            <a:avLst/>
          </a:prstGeom>
          <a:solidFill>
            <a:srgbClr val="42A5F5">
              <a:alpha val="5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046720" y="2560320"/>
            <a:ext cx="128016" cy="128016"/>
          </a:xfrm>
          <a:prstGeom prst="ellipse">
            <a:avLst/>
          </a:prstGeom>
          <a:solidFill>
            <a:srgbClr val="42A5F5">
              <a:alpha val="5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675120" y="3200400"/>
            <a:ext cx="128016" cy="128016"/>
          </a:xfrm>
          <a:prstGeom prst="ellipse">
            <a:avLst/>
          </a:prstGeom>
          <a:solidFill>
            <a:srgbClr val="42A5F5">
              <a:alpha val="5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8412480" y="3657600"/>
            <a:ext cx="128016" cy="128016"/>
          </a:xfrm>
          <a:prstGeom prst="ellipse">
            <a:avLst/>
          </a:prstGeom>
          <a:solidFill>
            <a:srgbClr val="42A5F5">
              <a:alpha val="5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7315200" y="4297680"/>
            <a:ext cx="128016" cy="128016"/>
          </a:xfrm>
          <a:prstGeom prst="ellipse">
            <a:avLst/>
          </a:prstGeom>
          <a:solidFill>
            <a:srgbClr val="42A5F5">
              <a:alpha val="55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" y="1005840"/>
            <a:ext cx="5760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42A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SpadeX</a:t>
            </a:r>
            <a:endParaRPr lang="en-US" sz="5200" dirty="0"/>
          </a:p>
        </p:txBody>
      </p:sp>
      <p:sp>
        <p:nvSpPr>
          <p:cNvPr id="15" name="Text 13"/>
          <p:cNvSpPr/>
          <p:nvPr/>
        </p:nvSpPr>
        <p:spPr>
          <a:xfrm>
            <a:off x="411480" y="1664208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Ecommerce Solution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411480" y="2267712"/>
            <a:ext cx="5760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8899AA"/>
                </a:solidFill>
              </a:rPr>
              <a:t>Major Industrial Problems of Our Organization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11480" y="3108960"/>
            <a:ext cx="1353312" cy="34747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" y="3108960"/>
            <a:ext cx="1353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Slow Reporting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874520" y="3108960"/>
            <a:ext cx="1353312" cy="347472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20" name="Text 18"/>
          <p:cNvSpPr/>
          <p:nvPr/>
        </p:nvSpPr>
        <p:spPr>
          <a:xfrm>
            <a:off x="1874520" y="3108960"/>
            <a:ext cx="1353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No Customer 360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337560" y="3108960"/>
            <a:ext cx="1353312" cy="347472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22" name="Text 20"/>
          <p:cNvSpPr/>
          <p:nvPr/>
        </p:nvSpPr>
        <p:spPr>
          <a:xfrm>
            <a:off x="3337560" y="3108960"/>
            <a:ext cx="1353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Team Struggles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800600" y="3108960"/>
            <a:ext cx="1353312" cy="347472"/>
          </a:xfrm>
          <a:prstGeom prst="rect">
            <a:avLst/>
          </a:prstGeom>
          <a:solidFill>
            <a:srgbClr val="B71C1C"/>
          </a:solidFill>
          <a:ln/>
        </p:spPr>
      </p:sp>
      <p:sp>
        <p:nvSpPr>
          <p:cNvPr id="24" name="Text 22"/>
          <p:cNvSpPr/>
          <p:nvPr/>
        </p:nvSpPr>
        <p:spPr>
          <a:xfrm>
            <a:off x="4800600" y="3108960"/>
            <a:ext cx="1353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Security Risk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905256" y="3657600"/>
            <a:ext cx="365760" cy="365760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3685032"/>
            <a:ext cx="310896" cy="310896"/>
          </a:xfrm>
          <a:prstGeom prst="rect">
            <a:avLst/>
          </a:prstGeom>
        </p:spPr>
      </p:pic>
      <p:sp>
        <p:nvSpPr>
          <p:cNvPr id="27" name="Shape 24"/>
          <p:cNvSpPr/>
          <p:nvPr/>
        </p:nvSpPr>
        <p:spPr>
          <a:xfrm>
            <a:off x="2368296" y="3657600"/>
            <a:ext cx="365760" cy="365760"/>
          </a:xfrm>
          <a:prstGeom prst="ellipse">
            <a:avLst/>
          </a:prstGeom>
          <a:solidFill>
            <a:srgbClr val="00695C"/>
          </a:solidFill>
          <a:ln/>
        </p:spPr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5728" y="3685032"/>
            <a:ext cx="310896" cy="310896"/>
          </a:xfrm>
          <a:prstGeom prst="rect">
            <a:avLst/>
          </a:prstGeom>
        </p:spPr>
      </p:pic>
      <p:sp>
        <p:nvSpPr>
          <p:cNvPr id="29" name="Shape 25"/>
          <p:cNvSpPr/>
          <p:nvPr/>
        </p:nvSpPr>
        <p:spPr>
          <a:xfrm>
            <a:off x="3831336" y="3657600"/>
            <a:ext cx="365760" cy="365760"/>
          </a:xfrm>
          <a:prstGeom prst="ellipse">
            <a:avLst/>
          </a:prstGeom>
          <a:solidFill>
            <a:srgbClr val="6A1B9A"/>
          </a:solidFill>
          <a:ln/>
        </p:spPr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58768" y="3685032"/>
            <a:ext cx="310896" cy="310896"/>
          </a:xfrm>
          <a:prstGeom prst="rect">
            <a:avLst/>
          </a:prstGeom>
        </p:spPr>
      </p:pic>
      <p:sp>
        <p:nvSpPr>
          <p:cNvPr id="31" name="Shape 26"/>
          <p:cNvSpPr/>
          <p:nvPr/>
        </p:nvSpPr>
        <p:spPr>
          <a:xfrm>
            <a:off x="5294376" y="3657600"/>
            <a:ext cx="365760" cy="365760"/>
          </a:xfrm>
          <a:prstGeom prst="ellipse">
            <a:avLst/>
          </a:prstGeom>
          <a:solidFill>
            <a:srgbClr val="B71C1C"/>
          </a:solidFill>
          <a:ln/>
        </p:spPr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21808" y="3685032"/>
            <a:ext cx="310896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109728"/>
            <a:ext cx="420624" cy="420624"/>
          </a:xfrm>
          <a:prstGeom prst="ellipse">
            <a:avLst/>
          </a:prstGeom>
          <a:solidFill>
            <a:srgbClr val="0D47A1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13716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  Slow Reporting — Lambda + Kappa Architecture</a:t>
            </a:r>
            <a:endParaRPr lang="en-US" sz="20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40080"/>
            <a:ext cx="9144000" cy="45034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109728"/>
            <a:ext cx="420624" cy="420624"/>
          </a:xfrm>
          <a:prstGeom prst="ellipse">
            <a:avLst/>
          </a:prstGeom>
          <a:solidFill>
            <a:srgbClr val="004D40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13716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  No Customer 360 — Graph Identity Resolution</a:t>
            </a:r>
            <a:endParaRPr lang="en-US" sz="20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40080"/>
            <a:ext cx="9144000" cy="45034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109728"/>
            <a:ext cx="420624" cy="420624"/>
          </a:xfrm>
          <a:prstGeom prst="ellipse">
            <a:avLst/>
          </a:prstGeom>
          <a:solidFill>
            <a:srgbClr val="4A148C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13716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  Data Team Struggles — Modern Data Stack</a:t>
            </a:r>
            <a:endParaRPr lang="en-US" sz="20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40080"/>
            <a:ext cx="9144000" cy="45034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B71C1C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109728"/>
            <a:ext cx="420624" cy="420624"/>
          </a:xfrm>
          <a:prstGeom prst="ellipse">
            <a:avLst/>
          </a:prstGeom>
          <a:solidFill>
            <a:srgbClr val="7F0000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13716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  Security Concerns — Zero-Trust Governance</a:t>
            </a:r>
            <a:endParaRPr lang="en-US" sz="20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40080"/>
            <a:ext cx="9144000" cy="45034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714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0"/>
            <a:ext cx="9144000" cy="36576"/>
          </a:xfrm>
          <a:prstGeom prst="rect">
            <a:avLst/>
          </a:prstGeom>
          <a:solidFill>
            <a:srgbClr val="42A5F5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Full Stack — how all 4 solutions connect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28600" y="841248"/>
            <a:ext cx="8686800" cy="713232"/>
          </a:xfrm>
          <a:prstGeom prst="rect">
            <a:avLst/>
          </a:prstGeom>
          <a:solidFill>
            <a:srgbClr val="132F4C"/>
          </a:solidFill>
          <a:ln/>
        </p:spPr>
      </p:sp>
      <p:sp>
        <p:nvSpPr>
          <p:cNvPr id="6" name="Shape 4"/>
          <p:cNvSpPr/>
          <p:nvPr/>
        </p:nvSpPr>
        <p:spPr>
          <a:xfrm>
            <a:off x="228600" y="841248"/>
            <a:ext cx="54864" cy="713232"/>
          </a:xfrm>
          <a:prstGeom prst="rect">
            <a:avLst/>
          </a:prstGeom>
          <a:solidFill>
            <a:srgbClr val="42A5F5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841248"/>
            <a:ext cx="685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42A5F5"/>
                </a:solidFill>
              </a:rPr>
              <a:t>INGEST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097280" y="960120"/>
            <a:ext cx="457200" cy="457200"/>
          </a:xfrm>
          <a:prstGeom prst="ellipse">
            <a:avLst/>
          </a:prstGeom>
          <a:solidFill>
            <a:srgbClr val="42A5F5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144" y="1014984"/>
            <a:ext cx="347472" cy="34747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27632" y="1042416"/>
            <a:ext cx="12984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Kafka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017520" y="960120"/>
            <a:ext cx="457200" cy="457200"/>
          </a:xfrm>
          <a:prstGeom prst="ellipse">
            <a:avLst/>
          </a:prstGeom>
          <a:solidFill>
            <a:srgbClr val="42A5F5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2384" y="1014984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47872" y="1042416"/>
            <a:ext cx="12984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Debezium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937760" y="960120"/>
            <a:ext cx="457200" cy="457200"/>
          </a:xfrm>
          <a:prstGeom prst="ellipse">
            <a:avLst/>
          </a:prstGeom>
          <a:solidFill>
            <a:srgbClr val="42A5F5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2624" y="1014984"/>
            <a:ext cx="347472" cy="34747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468112" y="1042416"/>
            <a:ext cx="12984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Airbyte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6858000" y="960120"/>
            <a:ext cx="457200" cy="457200"/>
          </a:xfrm>
          <a:prstGeom prst="ellipse">
            <a:avLst/>
          </a:prstGeom>
          <a:solidFill>
            <a:srgbClr val="42A5F5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2864" y="1014984"/>
            <a:ext cx="347472" cy="34747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388352" y="1042416"/>
            <a:ext cx="12984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Kinesis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228600" y="1645920"/>
            <a:ext cx="8686800" cy="713232"/>
          </a:xfrm>
          <a:prstGeom prst="rect">
            <a:avLst/>
          </a:prstGeom>
          <a:solidFill>
            <a:srgbClr val="0D2540"/>
          </a:solidFill>
          <a:ln/>
        </p:spPr>
      </p:sp>
      <p:sp>
        <p:nvSpPr>
          <p:cNvPr id="21" name="Shape 15"/>
          <p:cNvSpPr/>
          <p:nvPr/>
        </p:nvSpPr>
        <p:spPr>
          <a:xfrm>
            <a:off x="228600" y="1645920"/>
            <a:ext cx="54864" cy="713232"/>
          </a:xfrm>
          <a:prstGeom prst="rect">
            <a:avLst/>
          </a:prstGeom>
          <a:solidFill>
            <a:srgbClr val="26A69A"/>
          </a:solidFill>
          <a:ln/>
        </p:spPr>
      </p:sp>
      <p:sp>
        <p:nvSpPr>
          <p:cNvPr id="22" name="Text 16"/>
          <p:cNvSpPr/>
          <p:nvPr/>
        </p:nvSpPr>
        <p:spPr>
          <a:xfrm>
            <a:off x="320040" y="1645920"/>
            <a:ext cx="685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26A69A"/>
                </a:solidFill>
              </a:rPr>
              <a:t>STORE</a:t>
            </a:r>
            <a:endParaRPr lang="en-US" sz="850" dirty="0"/>
          </a:p>
        </p:txBody>
      </p:sp>
      <p:sp>
        <p:nvSpPr>
          <p:cNvPr id="23" name="Shape 17"/>
          <p:cNvSpPr/>
          <p:nvPr/>
        </p:nvSpPr>
        <p:spPr>
          <a:xfrm>
            <a:off x="1097280" y="1764792"/>
            <a:ext cx="457200" cy="457200"/>
          </a:xfrm>
          <a:prstGeom prst="ellipse">
            <a:avLst/>
          </a:prstGeom>
          <a:solidFill>
            <a:srgbClr val="26A69A"/>
          </a:solidFill>
          <a:ln/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144" y="1819656"/>
            <a:ext cx="347472" cy="34747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627632" y="1847088"/>
            <a:ext cx="12984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S3 Lake</a:t>
            </a:r>
            <a:endParaRPr lang="en-US" sz="1200" dirty="0"/>
          </a:p>
        </p:txBody>
      </p:sp>
      <p:sp>
        <p:nvSpPr>
          <p:cNvPr id="26" name="Shape 19"/>
          <p:cNvSpPr/>
          <p:nvPr/>
        </p:nvSpPr>
        <p:spPr>
          <a:xfrm>
            <a:off x="3017520" y="1764792"/>
            <a:ext cx="457200" cy="457200"/>
          </a:xfrm>
          <a:prstGeom prst="ellipse">
            <a:avLst/>
          </a:prstGeom>
          <a:solidFill>
            <a:srgbClr val="26A69A"/>
          </a:solidFill>
          <a:ln/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2384" y="1819656"/>
            <a:ext cx="347472" cy="347472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3547872" y="1847088"/>
            <a:ext cx="12984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Snowflake</a:t>
            </a:r>
            <a:endParaRPr lang="en-US" sz="1200" dirty="0"/>
          </a:p>
        </p:txBody>
      </p:sp>
      <p:sp>
        <p:nvSpPr>
          <p:cNvPr id="29" name="Shape 21"/>
          <p:cNvSpPr/>
          <p:nvPr/>
        </p:nvSpPr>
        <p:spPr>
          <a:xfrm>
            <a:off x="4937760" y="1764792"/>
            <a:ext cx="457200" cy="457200"/>
          </a:xfrm>
          <a:prstGeom prst="ellipse">
            <a:avLst/>
          </a:prstGeom>
          <a:solidFill>
            <a:srgbClr val="26A69A"/>
          </a:solidFill>
          <a:ln/>
        </p:spPr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2624" y="1819656"/>
            <a:ext cx="347472" cy="347472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5468112" y="1847088"/>
            <a:ext cx="12984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Redis</a:t>
            </a:r>
            <a:endParaRPr lang="en-US" sz="1200" dirty="0"/>
          </a:p>
        </p:txBody>
      </p:sp>
      <p:sp>
        <p:nvSpPr>
          <p:cNvPr id="32" name="Shape 23"/>
          <p:cNvSpPr/>
          <p:nvPr/>
        </p:nvSpPr>
        <p:spPr>
          <a:xfrm>
            <a:off x="6858000" y="1764792"/>
            <a:ext cx="457200" cy="457200"/>
          </a:xfrm>
          <a:prstGeom prst="ellipse">
            <a:avLst/>
          </a:prstGeom>
          <a:solidFill>
            <a:srgbClr val="26A69A"/>
          </a:solidFill>
          <a:ln/>
        </p:spPr>
      </p:sp>
      <p:pic>
        <p:nvPicPr>
          <p:cNvPr id="33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2864" y="1819656"/>
            <a:ext cx="347472" cy="347472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7388352" y="1847088"/>
            <a:ext cx="12984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Neo4j</a:t>
            </a:r>
            <a:endParaRPr lang="en-US" sz="1200" dirty="0"/>
          </a:p>
        </p:txBody>
      </p:sp>
      <p:sp>
        <p:nvSpPr>
          <p:cNvPr id="35" name="Shape 25"/>
          <p:cNvSpPr/>
          <p:nvPr/>
        </p:nvSpPr>
        <p:spPr>
          <a:xfrm>
            <a:off x="228600" y="2450592"/>
            <a:ext cx="8686800" cy="713232"/>
          </a:xfrm>
          <a:prstGeom prst="rect">
            <a:avLst/>
          </a:prstGeom>
          <a:solidFill>
            <a:srgbClr val="132F4C"/>
          </a:solidFill>
          <a:ln/>
        </p:spPr>
      </p:sp>
      <p:sp>
        <p:nvSpPr>
          <p:cNvPr id="36" name="Shape 26"/>
          <p:cNvSpPr/>
          <p:nvPr/>
        </p:nvSpPr>
        <p:spPr>
          <a:xfrm>
            <a:off x="228600" y="2450592"/>
            <a:ext cx="54864" cy="713232"/>
          </a:xfrm>
          <a:prstGeom prst="rect">
            <a:avLst/>
          </a:prstGeom>
          <a:solidFill>
            <a:srgbClr val="AB47BC"/>
          </a:solidFill>
          <a:ln/>
        </p:spPr>
      </p:sp>
      <p:sp>
        <p:nvSpPr>
          <p:cNvPr id="37" name="Text 27"/>
          <p:cNvSpPr/>
          <p:nvPr/>
        </p:nvSpPr>
        <p:spPr>
          <a:xfrm>
            <a:off x="320040" y="2450592"/>
            <a:ext cx="685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AB47BC"/>
                </a:solidFill>
              </a:rPr>
              <a:t>PROCESS</a:t>
            </a:r>
            <a:endParaRPr lang="en-US" sz="850" dirty="0"/>
          </a:p>
        </p:txBody>
      </p:sp>
      <p:sp>
        <p:nvSpPr>
          <p:cNvPr id="38" name="Shape 28"/>
          <p:cNvSpPr/>
          <p:nvPr/>
        </p:nvSpPr>
        <p:spPr>
          <a:xfrm>
            <a:off x="1097280" y="2569464"/>
            <a:ext cx="457200" cy="457200"/>
          </a:xfrm>
          <a:prstGeom prst="ellipse">
            <a:avLst/>
          </a:prstGeom>
          <a:solidFill>
            <a:srgbClr val="AB47BC"/>
          </a:solidFill>
          <a:ln/>
        </p:spPr>
      </p:sp>
      <p:pic>
        <p:nvPicPr>
          <p:cNvPr id="39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2144" y="2624328"/>
            <a:ext cx="347472" cy="347472"/>
          </a:xfrm>
          <a:prstGeom prst="rect">
            <a:avLst/>
          </a:prstGeom>
        </p:spPr>
      </p:pic>
      <p:sp>
        <p:nvSpPr>
          <p:cNvPr id="40" name="Text 29"/>
          <p:cNvSpPr/>
          <p:nvPr/>
        </p:nvSpPr>
        <p:spPr>
          <a:xfrm>
            <a:off x="1627632" y="2651760"/>
            <a:ext cx="12984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Flink</a:t>
            </a:r>
            <a:endParaRPr lang="en-US" sz="1200" dirty="0"/>
          </a:p>
        </p:txBody>
      </p:sp>
      <p:sp>
        <p:nvSpPr>
          <p:cNvPr id="41" name="Shape 30"/>
          <p:cNvSpPr/>
          <p:nvPr/>
        </p:nvSpPr>
        <p:spPr>
          <a:xfrm>
            <a:off x="3017520" y="2569464"/>
            <a:ext cx="457200" cy="457200"/>
          </a:xfrm>
          <a:prstGeom prst="ellipse">
            <a:avLst/>
          </a:prstGeom>
          <a:solidFill>
            <a:srgbClr val="AB47BC"/>
          </a:solidFill>
          <a:ln/>
        </p:spPr>
      </p:sp>
      <p:pic>
        <p:nvPicPr>
          <p:cNvPr id="42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2384" y="2624328"/>
            <a:ext cx="347472" cy="347472"/>
          </a:xfrm>
          <a:prstGeom prst="rect">
            <a:avLst/>
          </a:prstGeom>
        </p:spPr>
      </p:pic>
      <p:sp>
        <p:nvSpPr>
          <p:cNvPr id="43" name="Text 31"/>
          <p:cNvSpPr/>
          <p:nvPr/>
        </p:nvSpPr>
        <p:spPr>
          <a:xfrm>
            <a:off x="3547872" y="2651760"/>
            <a:ext cx="12984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Spark+dbt</a:t>
            </a:r>
            <a:endParaRPr lang="en-US" sz="1200" dirty="0"/>
          </a:p>
        </p:txBody>
      </p:sp>
      <p:sp>
        <p:nvSpPr>
          <p:cNvPr id="44" name="Shape 32"/>
          <p:cNvSpPr/>
          <p:nvPr/>
        </p:nvSpPr>
        <p:spPr>
          <a:xfrm>
            <a:off x="4937760" y="2569464"/>
            <a:ext cx="457200" cy="457200"/>
          </a:xfrm>
          <a:prstGeom prst="ellipse">
            <a:avLst/>
          </a:prstGeom>
          <a:solidFill>
            <a:srgbClr val="AB47BC"/>
          </a:solidFill>
          <a:ln/>
        </p:spPr>
      </p:sp>
      <p:pic>
        <p:nvPicPr>
          <p:cNvPr id="45" name="Image 1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92624" y="2624328"/>
            <a:ext cx="347472" cy="347472"/>
          </a:xfrm>
          <a:prstGeom prst="rect">
            <a:avLst/>
          </a:prstGeom>
        </p:spPr>
      </p:pic>
      <p:sp>
        <p:nvSpPr>
          <p:cNvPr id="46" name="Text 33"/>
          <p:cNvSpPr/>
          <p:nvPr/>
        </p:nvSpPr>
        <p:spPr>
          <a:xfrm>
            <a:off x="5468112" y="2651760"/>
            <a:ext cx="12984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Feast</a:t>
            </a:r>
            <a:endParaRPr lang="en-US" sz="1200" dirty="0"/>
          </a:p>
        </p:txBody>
      </p:sp>
      <p:sp>
        <p:nvSpPr>
          <p:cNvPr id="47" name="Shape 34"/>
          <p:cNvSpPr/>
          <p:nvPr/>
        </p:nvSpPr>
        <p:spPr>
          <a:xfrm>
            <a:off x="6858000" y="2569464"/>
            <a:ext cx="457200" cy="457200"/>
          </a:xfrm>
          <a:prstGeom prst="ellipse">
            <a:avLst/>
          </a:prstGeom>
          <a:solidFill>
            <a:srgbClr val="AB47BC"/>
          </a:solidFill>
          <a:ln/>
        </p:spPr>
      </p:sp>
      <p:pic>
        <p:nvPicPr>
          <p:cNvPr id="48" name="Image 1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12864" y="2624328"/>
            <a:ext cx="347472" cy="347472"/>
          </a:xfrm>
          <a:prstGeom prst="rect">
            <a:avLst/>
          </a:prstGeom>
        </p:spPr>
      </p:pic>
      <p:sp>
        <p:nvSpPr>
          <p:cNvPr id="49" name="Text 35"/>
          <p:cNvSpPr/>
          <p:nvPr/>
        </p:nvSpPr>
        <p:spPr>
          <a:xfrm>
            <a:off x="7388352" y="2651760"/>
            <a:ext cx="12984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MLflow</a:t>
            </a:r>
            <a:endParaRPr lang="en-US" sz="1200" dirty="0"/>
          </a:p>
        </p:txBody>
      </p:sp>
      <p:sp>
        <p:nvSpPr>
          <p:cNvPr id="50" name="Shape 36"/>
          <p:cNvSpPr/>
          <p:nvPr/>
        </p:nvSpPr>
        <p:spPr>
          <a:xfrm>
            <a:off x="228600" y="3255264"/>
            <a:ext cx="8686800" cy="713232"/>
          </a:xfrm>
          <a:prstGeom prst="rect">
            <a:avLst/>
          </a:prstGeom>
          <a:solidFill>
            <a:srgbClr val="0D2540"/>
          </a:solidFill>
          <a:ln/>
        </p:spPr>
      </p:sp>
      <p:sp>
        <p:nvSpPr>
          <p:cNvPr id="51" name="Shape 37"/>
          <p:cNvSpPr/>
          <p:nvPr/>
        </p:nvSpPr>
        <p:spPr>
          <a:xfrm>
            <a:off x="228600" y="3255264"/>
            <a:ext cx="54864" cy="713232"/>
          </a:xfrm>
          <a:prstGeom prst="rect">
            <a:avLst/>
          </a:prstGeom>
          <a:solidFill>
            <a:srgbClr val="EF5350"/>
          </a:solidFill>
          <a:ln/>
        </p:spPr>
      </p:sp>
      <p:sp>
        <p:nvSpPr>
          <p:cNvPr id="52" name="Text 38"/>
          <p:cNvSpPr/>
          <p:nvPr/>
        </p:nvSpPr>
        <p:spPr>
          <a:xfrm>
            <a:off x="320040" y="3255264"/>
            <a:ext cx="685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EF5350"/>
                </a:solidFill>
              </a:rPr>
              <a:t>GOVERN</a:t>
            </a:r>
            <a:endParaRPr lang="en-US" sz="850" dirty="0"/>
          </a:p>
        </p:txBody>
      </p:sp>
      <p:sp>
        <p:nvSpPr>
          <p:cNvPr id="53" name="Shape 39"/>
          <p:cNvSpPr/>
          <p:nvPr/>
        </p:nvSpPr>
        <p:spPr>
          <a:xfrm>
            <a:off x="1097280" y="3374136"/>
            <a:ext cx="457200" cy="457200"/>
          </a:xfrm>
          <a:prstGeom prst="ellipse">
            <a:avLst/>
          </a:prstGeom>
          <a:solidFill>
            <a:srgbClr val="EF5350"/>
          </a:solidFill>
          <a:ln/>
        </p:spPr>
      </p:sp>
      <p:pic>
        <p:nvPicPr>
          <p:cNvPr id="54" name="Image 1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2144" y="3429000"/>
            <a:ext cx="347472" cy="347472"/>
          </a:xfrm>
          <a:prstGeom prst="rect">
            <a:avLst/>
          </a:prstGeom>
        </p:spPr>
      </p:pic>
      <p:sp>
        <p:nvSpPr>
          <p:cNvPr id="55" name="Text 40"/>
          <p:cNvSpPr/>
          <p:nvPr/>
        </p:nvSpPr>
        <p:spPr>
          <a:xfrm>
            <a:off x="1627632" y="3456432"/>
            <a:ext cx="12984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RBAC</a:t>
            </a:r>
            <a:endParaRPr lang="en-US" sz="1200" dirty="0"/>
          </a:p>
        </p:txBody>
      </p:sp>
      <p:sp>
        <p:nvSpPr>
          <p:cNvPr id="56" name="Shape 41"/>
          <p:cNvSpPr/>
          <p:nvPr/>
        </p:nvSpPr>
        <p:spPr>
          <a:xfrm>
            <a:off x="3017520" y="3374136"/>
            <a:ext cx="457200" cy="457200"/>
          </a:xfrm>
          <a:prstGeom prst="ellipse">
            <a:avLst/>
          </a:prstGeom>
          <a:solidFill>
            <a:srgbClr val="EF5350"/>
          </a:solidFill>
          <a:ln/>
        </p:spPr>
      </p:sp>
      <p:pic>
        <p:nvPicPr>
          <p:cNvPr id="57" name="Image 1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72384" y="3429000"/>
            <a:ext cx="347472" cy="347472"/>
          </a:xfrm>
          <a:prstGeom prst="rect">
            <a:avLst/>
          </a:prstGeom>
        </p:spPr>
      </p:pic>
      <p:sp>
        <p:nvSpPr>
          <p:cNvPr id="58" name="Text 42"/>
          <p:cNvSpPr/>
          <p:nvPr/>
        </p:nvSpPr>
        <p:spPr>
          <a:xfrm>
            <a:off x="3547872" y="3456432"/>
            <a:ext cx="12984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AWS KMS</a:t>
            </a:r>
            <a:endParaRPr lang="en-US" sz="1200" dirty="0"/>
          </a:p>
        </p:txBody>
      </p:sp>
      <p:sp>
        <p:nvSpPr>
          <p:cNvPr id="59" name="Shape 43"/>
          <p:cNvSpPr/>
          <p:nvPr/>
        </p:nvSpPr>
        <p:spPr>
          <a:xfrm>
            <a:off x="4937760" y="3374136"/>
            <a:ext cx="457200" cy="457200"/>
          </a:xfrm>
          <a:prstGeom prst="ellipse">
            <a:avLst/>
          </a:prstGeom>
          <a:solidFill>
            <a:srgbClr val="EF5350"/>
          </a:solidFill>
          <a:ln/>
        </p:spPr>
      </p:sp>
      <p:pic>
        <p:nvPicPr>
          <p:cNvPr id="60" name="Image 1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92624" y="3429000"/>
            <a:ext cx="347472" cy="347472"/>
          </a:xfrm>
          <a:prstGeom prst="rect">
            <a:avLst/>
          </a:prstGeom>
        </p:spPr>
      </p:pic>
      <p:sp>
        <p:nvSpPr>
          <p:cNvPr id="61" name="Text 44"/>
          <p:cNvSpPr/>
          <p:nvPr/>
        </p:nvSpPr>
        <p:spPr>
          <a:xfrm>
            <a:off x="5468112" y="3456432"/>
            <a:ext cx="12984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Atlas</a:t>
            </a:r>
            <a:endParaRPr lang="en-US" sz="1200" dirty="0"/>
          </a:p>
        </p:txBody>
      </p:sp>
      <p:sp>
        <p:nvSpPr>
          <p:cNvPr id="62" name="Shape 45"/>
          <p:cNvSpPr/>
          <p:nvPr/>
        </p:nvSpPr>
        <p:spPr>
          <a:xfrm>
            <a:off x="6858000" y="3374136"/>
            <a:ext cx="457200" cy="457200"/>
          </a:xfrm>
          <a:prstGeom prst="ellipse">
            <a:avLst/>
          </a:prstGeom>
          <a:solidFill>
            <a:srgbClr val="EF5350"/>
          </a:solidFill>
          <a:ln/>
        </p:spPr>
      </p:sp>
      <p:pic>
        <p:nvPicPr>
          <p:cNvPr id="63" name="Image 1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12864" y="3429000"/>
            <a:ext cx="347472" cy="347472"/>
          </a:xfrm>
          <a:prstGeom prst="rect">
            <a:avLst/>
          </a:prstGeom>
        </p:spPr>
      </p:pic>
      <p:sp>
        <p:nvSpPr>
          <p:cNvPr id="64" name="Text 46"/>
          <p:cNvSpPr/>
          <p:nvPr/>
        </p:nvSpPr>
        <p:spPr>
          <a:xfrm>
            <a:off x="7388352" y="3456432"/>
            <a:ext cx="12984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Gr.Expect</a:t>
            </a:r>
            <a:endParaRPr lang="en-US" sz="1200" dirty="0"/>
          </a:p>
        </p:txBody>
      </p:sp>
      <p:sp>
        <p:nvSpPr>
          <p:cNvPr id="65" name="Shape 47"/>
          <p:cNvSpPr/>
          <p:nvPr/>
        </p:nvSpPr>
        <p:spPr>
          <a:xfrm>
            <a:off x="228600" y="4059936"/>
            <a:ext cx="8686800" cy="713232"/>
          </a:xfrm>
          <a:prstGeom prst="rect">
            <a:avLst/>
          </a:prstGeom>
          <a:solidFill>
            <a:srgbClr val="132F4C"/>
          </a:solidFill>
          <a:ln/>
        </p:spPr>
      </p:sp>
      <p:sp>
        <p:nvSpPr>
          <p:cNvPr id="66" name="Shape 48"/>
          <p:cNvSpPr/>
          <p:nvPr/>
        </p:nvSpPr>
        <p:spPr>
          <a:xfrm>
            <a:off x="228600" y="4059936"/>
            <a:ext cx="54864" cy="713232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67" name="Text 49"/>
          <p:cNvSpPr/>
          <p:nvPr/>
        </p:nvSpPr>
        <p:spPr>
          <a:xfrm>
            <a:off x="320040" y="4059936"/>
            <a:ext cx="685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66BB6A"/>
                </a:solidFill>
              </a:rPr>
              <a:t>SERVE</a:t>
            </a:r>
            <a:endParaRPr lang="en-US" sz="850" dirty="0"/>
          </a:p>
        </p:txBody>
      </p:sp>
      <p:sp>
        <p:nvSpPr>
          <p:cNvPr id="68" name="Shape 50"/>
          <p:cNvSpPr/>
          <p:nvPr/>
        </p:nvSpPr>
        <p:spPr>
          <a:xfrm>
            <a:off x="1097280" y="4178808"/>
            <a:ext cx="457200" cy="457200"/>
          </a:xfrm>
          <a:prstGeom prst="ellipse">
            <a:avLst/>
          </a:prstGeom>
          <a:solidFill>
            <a:srgbClr val="66BB6A"/>
          </a:solidFill>
          <a:ln/>
        </p:spPr>
      </p:sp>
      <p:pic>
        <p:nvPicPr>
          <p:cNvPr id="69" name="Image 1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52144" y="4233672"/>
            <a:ext cx="347472" cy="347472"/>
          </a:xfrm>
          <a:prstGeom prst="rect">
            <a:avLst/>
          </a:prstGeom>
        </p:spPr>
      </p:pic>
      <p:sp>
        <p:nvSpPr>
          <p:cNvPr id="70" name="Text 51"/>
          <p:cNvSpPr/>
          <p:nvPr/>
        </p:nvSpPr>
        <p:spPr>
          <a:xfrm>
            <a:off x="1627632" y="4261104"/>
            <a:ext cx="12984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360 API</a:t>
            </a:r>
            <a:endParaRPr lang="en-US" sz="1200" dirty="0"/>
          </a:p>
        </p:txBody>
      </p:sp>
      <p:sp>
        <p:nvSpPr>
          <p:cNvPr id="71" name="Shape 52"/>
          <p:cNvSpPr/>
          <p:nvPr/>
        </p:nvSpPr>
        <p:spPr>
          <a:xfrm>
            <a:off x="3017520" y="4178808"/>
            <a:ext cx="457200" cy="457200"/>
          </a:xfrm>
          <a:prstGeom prst="ellipse">
            <a:avLst/>
          </a:prstGeom>
          <a:solidFill>
            <a:srgbClr val="66BB6A"/>
          </a:solidFill>
          <a:ln/>
        </p:spPr>
      </p:sp>
      <p:pic>
        <p:nvPicPr>
          <p:cNvPr id="72" name="Image 1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2384" y="4233672"/>
            <a:ext cx="347472" cy="347472"/>
          </a:xfrm>
          <a:prstGeom prst="rect">
            <a:avLst/>
          </a:prstGeom>
        </p:spPr>
      </p:pic>
      <p:sp>
        <p:nvSpPr>
          <p:cNvPr id="73" name="Text 53"/>
          <p:cNvSpPr/>
          <p:nvPr/>
        </p:nvSpPr>
        <p:spPr>
          <a:xfrm>
            <a:off x="3547872" y="4261104"/>
            <a:ext cx="12984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Looker</a:t>
            </a:r>
            <a:endParaRPr lang="en-US" sz="1200" dirty="0"/>
          </a:p>
        </p:txBody>
      </p:sp>
      <p:sp>
        <p:nvSpPr>
          <p:cNvPr id="74" name="Shape 54"/>
          <p:cNvSpPr/>
          <p:nvPr/>
        </p:nvSpPr>
        <p:spPr>
          <a:xfrm>
            <a:off x="4937760" y="4178808"/>
            <a:ext cx="457200" cy="457200"/>
          </a:xfrm>
          <a:prstGeom prst="ellipse">
            <a:avLst/>
          </a:prstGeom>
          <a:solidFill>
            <a:srgbClr val="66BB6A"/>
          </a:solidFill>
          <a:ln/>
        </p:spPr>
      </p:sp>
      <p:pic>
        <p:nvPicPr>
          <p:cNvPr id="75" name="Image 1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92624" y="4233672"/>
            <a:ext cx="347472" cy="347472"/>
          </a:xfrm>
          <a:prstGeom prst="rect">
            <a:avLst/>
          </a:prstGeom>
        </p:spPr>
      </p:pic>
      <p:sp>
        <p:nvSpPr>
          <p:cNvPr id="76" name="Text 55"/>
          <p:cNvSpPr/>
          <p:nvPr/>
        </p:nvSpPr>
        <p:spPr>
          <a:xfrm>
            <a:off x="5468112" y="4261104"/>
            <a:ext cx="12984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ML Infer</a:t>
            </a:r>
            <a:endParaRPr lang="en-US" sz="1200" dirty="0"/>
          </a:p>
        </p:txBody>
      </p:sp>
      <p:sp>
        <p:nvSpPr>
          <p:cNvPr id="77" name="Shape 56"/>
          <p:cNvSpPr/>
          <p:nvPr/>
        </p:nvSpPr>
        <p:spPr>
          <a:xfrm>
            <a:off x="6858000" y="4178808"/>
            <a:ext cx="457200" cy="457200"/>
          </a:xfrm>
          <a:prstGeom prst="ellipse">
            <a:avLst/>
          </a:prstGeom>
          <a:solidFill>
            <a:srgbClr val="66BB6A"/>
          </a:solidFill>
          <a:ln/>
        </p:spPr>
      </p:sp>
      <p:pic>
        <p:nvPicPr>
          <p:cNvPr id="78" name="Image 1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12864" y="4233672"/>
            <a:ext cx="347472" cy="347472"/>
          </a:xfrm>
          <a:prstGeom prst="rect">
            <a:avLst/>
          </a:prstGeom>
        </p:spPr>
      </p:pic>
      <p:sp>
        <p:nvSpPr>
          <p:cNvPr id="79" name="Text 57"/>
          <p:cNvSpPr/>
          <p:nvPr/>
        </p:nvSpPr>
        <p:spPr>
          <a:xfrm>
            <a:off x="7388352" y="4261104"/>
            <a:ext cx="12984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AuditAPI</a:t>
            </a:r>
            <a:endParaRPr lang="en-US" sz="1200" dirty="0"/>
          </a:p>
        </p:txBody>
      </p:sp>
      <p:sp>
        <p:nvSpPr>
          <p:cNvPr id="80" name="Text 58"/>
          <p:cNvSpPr/>
          <p:nvPr/>
        </p:nvSpPr>
        <p:spPr>
          <a:xfrm>
            <a:off x="365760" y="4864608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B8FA8"/>
                </a:solidFill>
              </a:rPr>
              <a:t>Every layer solves one problem — and they reinforce each other.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109</Words>
  <Application>Microsoft Office PowerPoint</Application>
  <PresentationFormat>On-screen Show (16:9)</PresentationFormat>
  <Paragraphs>45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Industrial Data Solutions — Visual Deep Dive</dc:title>
  <dc:subject>PptxGenJS Presentation</dc:subject>
  <dc:creator>PptxGenJS</dc:creator>
  <cp:lastModifiedBy>tharun kumar</cp:lastModifiedBy>
  <cp:revision>2</cp:revision>
  <dcterms:created xsi:type="dcterms:W3CDTF">2026-03-18T01:12:08Z</dcterms:created>
  <dcterms:modified xsi:type="dcterms:W3CDTF">2026-03-18T01:34:06Z</dcterms:modified>
</cp:coreProperties>
</file>